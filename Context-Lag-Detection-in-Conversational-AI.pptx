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JetBrains Mono Medium"/>
      <p:regular r:id="rId201314"/>
    </p:embeddedFont>
    <p:embeddedFont>
      <p:font typeface="Tinos"/>
      <p:regular r:id="rId201315"/>
    </p:embeddedFont>
    <p:embeddedFont>
      <p:font typeface="Tino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3376" y="2254845"/>
            <a:ext cx="656494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450" spc="87" kern="0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NLP · SEMANTIC EMBEDDINGS · INFORMATION RETRIEVAL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3937695" y="2535634"/>
            <a:ext cx="4316305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Context Lag Detection</a:t>
            </a:r>
            <a:endParaRPr lang="en-US" sz="36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 Conversational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981150" y="3749477"/>
            <a:ext cx="8229394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29163" y="3982839"/>
            <a:ext cx="23333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Task A &amp; Task 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981150" y="4509492"/>
            <a:ext cx="8229394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Context Lag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10972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 long conversations, a new message may relate to an older topic instead of the current conversational context.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741017"/>
            <a:ext cx="630926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Whether a message belongs to the current context</a:t>
            </a:r>
            <a:endParaRPr lang="en-US" sz="2000" dirty="0"/>
          </a:p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Which previous message is most relevant</a:t>
            </a:r>
            <a:endParaRPr lang="en-US" sz="2000" dirty="0"/>
          </a:p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Whether a conversation has shifted to another topic</a:t>
            </a:r>
            <a:endParaRPr lang="en-US" sz="2000" dirty="0"/>
          </a:p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How relevant historical context can be retrieved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75936" y="2512417"/>
            <a:ext cx="4206174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75936" y="4377730"/>
            <a:ext cx="4206174" cy="63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04530" y="2960688"/>
            <a:ext cx="3748986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Key challenge:</a:t>
            </a:r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Semantic similarity does not always mean conversational relevance.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897856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68371" y="1925836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Analyze conversation messages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629297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68371" y="2657277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Retrieve relevant historical context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360737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68371" y="3388717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Measure lexical and semantic similarity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4092178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68371" y="4120158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Rank candidate contexts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585" y="4823619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168371" y="4851598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Identify potential context lag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9585" y="5555059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68371" y="5583039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Select the most relevant contextual information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9585" y="2447727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179167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3910608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4642048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5" y="5373489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Overall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078236"/>
            <a:ext cx="5333867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249686"/>
            <a:ext cx="53338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Conversation preprocessing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48244" y="1722636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48244" y="2078236"/>
            <a:ext cx="5333867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9" name="Text 7"/>
          <p:cNvSpPr/>
          <p:nvPr/>
        </p:nvSpPr>
        <p:spPr>
          <a:xfrm>
            <a:off x="6248244" y="2249686"/>
            <a:ext cx="53338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Candidate context retrieval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2879527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9585" y="3235127"/>
            <a:ext cx="5333867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3406577"/>
            <a:ext cx="53338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Semantic similarity calculation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48244" y="2879527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48244" y="3235127"/>
            <a:ext cx="5333867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3406577"/>
            <a:ext cx="53338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Lexical relevance calculation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09585" y="4036417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9585" y="4392017"/>
            <a:ext cx="5333867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4563467"/>
            <a:ext cx="53338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Structural/contextual ranking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48244" y="4036417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8244" y="4392017"/>
            <a:ext cx="5333867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248244" y="4563467"/>
            <a:ext cx="5333867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Hybrid ranking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9585" y="5193308"/>
            <a:ext cx="86357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09585" y="5548908"/>
            <a:ext cx="10972526" cy="19050"/>
          </a:xfrm>
          <a:prstGeom prst="rect">
            <a:avLst/>
          </a:prstGeom>
          <a:solidFill>
            <a:srgbClr val="1A1A8C"/>
          </a:solidFill>
          <a:ln/>
        </p:spPr>
      </p:sp>
      <p:sp>
        <p:nvSpPr>
          <p:cNvPr id="24" name="Text 22"/>
          <p:cNvSpPr/>
          <p:nvPr/>
        </p:nvSpPr>
        <p:spPr>
          <a:xfrm>
            <a:off x="609585" y="5720358"/>
            <a:ext cx="1097252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Context-lag decision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Technologies Used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22636"/>
          <a:ext cx="9143771" cy="914400"/>
        </p:xfrm>
        <a:graphic>
          <a:graphicData uri="http://schemas.openxmlformats.org/drawingml/2006/table">
            <a:tbl>
              <a:tblPr/>
              <a:tblGrid>
                <a:gridCol w="3291758"/>
                <a:gridCol w="7680768"/>
              </a:tblGrid>
              <a:tr h="540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Programming: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Python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NLP / Semantic Models: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Sentence Transformers; all-MiniLM-L6-v2; BGE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Information Retrieval: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BM25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Data Processing: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Pandas; NumPy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Evaluation: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Similarity scoring; ranking analysis; threshold tuning; top-candidate agreement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Task 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Context Lag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10972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Task A focuses on determining whether the current message is sufficiently relevant to the active conversational context.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693988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3275" y="2639417"/>
            <a:ext cx="105788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Generate semantic representations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273028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3275" y="3218458"/>
            <a:ext cx="105788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Compare the current message with relevant context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852069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3275" y="3797498"/>
            <a:ext cx="105788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Calculate similarity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4431109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3275" y="4376539"/>
            <a:ext cx="105788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Apply a decision threshold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585" y="5010150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3275" y="4955580"/>
            <a:ext cx="1057883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Determine whether the context is relevant or potentially lagging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9585" y="3075583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3654623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4233664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4812705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Task A: Semantic Embeddings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Sentence Transformers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115821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We use Sentence Transformer models to convert messages into numerical vector representations.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2390577"/>
            <a:ext cx="342891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all-MiniLM-L6-v2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495688" y="2390577"/>
            <a:ext cx="342891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53196" y="2390577"/>
            <a:ext cx="320032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vectors allow us to calculate semantic similarity between messages.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585" y="3708598"/>
            <a:ext cx="10972526" cy="635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4293989"/>
            <a:ext cx="10972526" cy="635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3708598"/>
            <a:ext cx="10972526" cy="591741"/>
          </a:xfrm>
          <a:prstGeom prst="rect">
            <a:avLst/>
          </a:prstGeom>
          <a:noFill/>
          <a:ln/>
        </p:spPr>
        <p:txBody>
          <a:bodyPr wrap="square" lIns="0" tIns="126997" rIns="0" bIns="126997" rtlCol="0" anchor="t">
            <a:normAutofit/>
          </a:bodyPr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Text → Embedding → Similarity Score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4440039"/>
            <a:ext cx="115821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This helps identify messages with similar meaning even when their exact words are different.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60743" y="2187377"/>
            <a:ext cx="12700" cy="1381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18252" y="2187377"/>
            <a:ext cx="12700" cy="1381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Task A: Threshold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Similarity Threshold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10972526" cy="789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105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Similarity scores are continuous values.</a:t>
            </a:r>
            <a:endParaRPr lang="en-US" sz="20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threshold is used to convert the similarity score into a decision: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8978" y="2880717"/>
            <a:ext cx="520687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spc="87" kern="0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ABOVE THRESHOLD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88978" y="3161506"/>
            <a:ext cx="4927477" cy="6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300" b="1" spc="-5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Score above threshold → Relevant context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095848" y="2652117"/>
            <a:ext cx="6350" cy="1415653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6381590" y="2880717"/>
            <a:ext cx="520052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spc="87" kern="0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BELOW THRESHOLD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81590" y="3161506"/>
            <a:ext cx="4921127" cy="6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300" b="1" spc="-5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Score below threshold → Potential context lag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585" y="4207470"/>
            <a:ext cx="115821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Threshold tuning is performed using the available training data.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9498" y="2652117"/>
            <a:ext cx="12700" cy="14156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Task 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Candidate Context Ranking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1158211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Task B focuses on ranking historical candidate messages based on their relevance to the current message.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324497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68371" y="2352477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Structural Ranking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979738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68371" y="3007717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BM25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634978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68371" y="3662958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4290219"/>
            <a:ext cx="9905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68371" y="4318198"/>
            <a:ext cx="10413739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Hybrid Ranking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5" y="4948039"/>
            <a:ext cx="10972526" cy="635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5" y="5584230"/>
            <a:ext cx="10972526" cy="635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4948039"/>
            <a:ext cx="10972526" cy="642541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objective is to identify the most relevant candidate context.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9585" y="2836267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491508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4146748"/>
            <a:ext cx="10972526" cy="127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9" name="Text 17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93212" y="6528296"/>
            <a:ext cx="698483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29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BM25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243013"/>
            <a:ext cx="10972526" cy="32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200" b="1" spc="-4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BM25 — Lexical Retrieval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1722636"/>
            <a:ext cx="5958631" cy="742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BM25 is a classical information-retrieval method.</a:t>
            </a:r>
            <a:endParaRPr lang="en-US" sz="20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It evaluates relevance based on word and term matching.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604492"/>
            <a:ext cx="5958631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spc="-23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Advantages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09585" y="3157736"/>
            <a:ext cx="5958631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Effective keyword matching</a:t>
            </a:r>
            <a:endParaRPr lang="en-US" sz="2000" dirty="0"/>
          </a:p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Simple and interpretable</a:t>
            </a:r>
            <a:endParaRPr lang="en-US" sz="2000" dirty="0"/>
          </a:p>
          <a:p>
            <a:pPr algn="l" marL="406400" indent="-406400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Strong lexical retrieval baseline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025305" y="1722636"/>
            <a:ext cx="6350" cy="248642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7311048" y="2201664"/>
            <a:ext cx="4271062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spc="-23" kern="0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Limitation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311048" y="2754908"/>
            <a:ext cx="4271062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It may not capture semantic similarity when different words express the same meaning.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6528296"/>
            <a:ext cx="1961307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04315" y="6528296"/>
            <a:ext cx="787380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2026-09-26T06:18:13Z</dcterms:created>
  <dcterms:modified xsi:type="dcterms:W3CDTF">2026-09-26T06:18:13Z</dcterms:modified>
</cp:coreProperties>
</file>